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54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412480" y="594360"/>
            <a:ext cx="2926080" cy="109728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098280" y="822960"/>
            <a:ext cx="2240280" cy="109728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68096" y="813816"/>
            <a:ext cx="1572768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QuizRush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49808" y="2057400"/>
            <a:ext cx="6126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quiz hosting and gameplay across web, Android, ASP.NET Core, SignalR, and SQL Server.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543800" y="1371600"/>
            <a:ext cx="11430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635240" y="1508760"/>
            <a:ext cx="9601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35240" y="1947672"/>
            <a:ext cx="960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Blazor Server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915400" y="1371600"/>
            <a:ext cx="11430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006840" y="1508760"/>
            <a:ext cx="9601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06840" y="1947672"/>
            <a:ext cx="960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 Core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87000" y="1371600"/>
            <a:ext cx="11430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378440" y="1508760"/>
            <a:ext cx="9601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378440" y="1947672"/>
            <a:ext cx="960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43800" y="2743200"/>
            <a:ext cx="11430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635240" y="2880360"/>
            <a:ext cx="9601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35240" y="3319272"/>
            <a:ext cx="960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MAUI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15400" y="2743200"/>
            <a:ext cx="11430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006840" y="2880360"/>
            <a:ext cx="9601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06840" y="3319272"/>
            <a:ext cx="960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287000" y="2743200"/>
            <a:ext cx="11430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378440" y="2880360"/>
            <a:ext cx="9601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378440" y="3319272"/>
            <a:ext cx="9601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xUnit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01 | OICAR 2026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5303520"/>
            <a:ext cx="7589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Roko Pejo Bozic · Matej Pilic · Pavlo Nerekov · Maksym Moroz · Goran J</a:t>
            </a:r>
            <a:r>
              <a:rPr lang="hr-HR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unio</a:t>
            </a: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Skoric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at a glance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908581"/>
            <a:ext cx="9052560" cy="50292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 fontScale="85000" lnSpcReduction="10000"/>
          </a:bodyPr>
          <a:lstStyle/>
          <a:p>
            <a:r>
              <a:rPr sz="1800" b="0" dirty="0">
                <a:solidFill>
                  <a:schemeClr val="bg1"/>
                </a:solidFill>
                <a:latin typeface="Aptos"/>
              </a:rPr>
              <a:t>QuizRush is a real-time quiz platform designed to be self-hostable and runnable on owned infrastructure. Hosts create live sessions, and players join instantly from web or Android using a PIN.</a:t>
            </a:r>
          </a:p>
        </p:txBody>
      </p:sp>
      <p:sp>
        <p:nvSpPr>
          <p:cNvPr id="9" name="Shape 7"/>
          <p:cNvSpPr/>
          <p:nvPr/>
        </p:nvSpPr>
        <p:spPr>
          <a:xfrm>
            <a:off x="685800" y="169164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1234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6-char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267712"/>
            <a:ext cx="12344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PIN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31720" y="169164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23160" y="1828800"/>
            <a:ext cx="1234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23160" y="2267712"/>
            <a:ext cx="12344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77640" y="169164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069080" y="1828800"/>
            <a:ext cx="1234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069080" y="2267712"/>
            <a:ext cx="12344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backend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23560" y="1691640"/>
            <a:ext cx="169164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715000" y="1828800"/>
            <a:ext cx="1508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15000" y="2267712"/>
            <a:ext cx="15087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SignalR hub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43800" y="1691640"/>
            <a:ext cx="169164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635240" y="1828800"/>
            <a:ext cx="15087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35240" y="2267712"/>
            <a:ext cx="15087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Gambling points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3108960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85800" y="3108960"/>
            <a:ext cx="82296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4400" y="3273552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hosts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3675888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quizzes, launch sessions, control game pace, reveal answers, and review results.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3108960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480560" y="3108960"/>
            <a:ext cx="82296" cy="1508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709160" y="3273552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players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09160" y="3675888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without friction, answer timed questions, gamble score, and see leaderboards live.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75320" y="3108960"/>
            <a:ext cx="3063240" cy="1508760"/>
          </a:xfrm>
          <a:prstGeom prst="roundRect">
            <a:avLst>
              <a:gd name="adj" fmla="val 7273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275320" y="3108960"/>
            <a:ext cx="82296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50392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evaluators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03920" y="3675888"/>
            <a:ext cx="2743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full-stack implementation with REST API, SignalR, database, testing, and privacy notes.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opportunity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1520" y="1005840"/>
            <a:ext cx="3246120" cy="4297680"/>
          </a:xfrm>
          <a:prstGeom prst="roundRect">
            <a:avLst>
              <a:gd name="adj" fmla="val 3380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1005840"/>
            <a:ext cx="82296" cy="4297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1170432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quiz ecosystems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29260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tools are easy to use, but they limit ownership, deployment control, customization, and integration options.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1005840"/>
            <a:ext cx="3246120" cy="4297680"/>
          </a:xfrm>
          <a:prstGeom prst="roundRect">
            <a:avLst>
              <a:gd name="adj" fmla="val 3380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434840" y="1005840"/>
            <a:ext cx="82296" cy="4297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63440" y="1170432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experience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1572768"/>
            <a:ext cx="29260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open alternatives focus on web only or mobile only, which creates separate experiences for the same game.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005840"/>
            <a:ext cx="3246120" cy="4297680"/>
          </a:xfrm>
          <a:prstGeom prst="roundRect">
            <a:avLst>
              <a:gd name="adj" fmla="val 3380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138160" y="1005840"/>
            <a:ext cx="82296" cy="4297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66760" y="1170432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flexibility gap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1572768"/>
            <a:ext cx="29260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Rigid scoring rules and limited API access make it hard to build custom education, corporate training, or event workflows.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80160" y="5715000"/>
            <a:ext cx="9784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QuizRush addresses this gap with one real-time backend, browser + Android participation, and configurable game mechanics.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Planned vs delivered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77240" y="960120"/>
            <a:ext cx="36576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434840" y="960120"/>
            <a:ext cx="70408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96112" y="1106424"/>
            <a:ext cx="3429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53712" y="1106424"/>
            <a:ext cx="6812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delivery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1463040"/>
            <a:ext cx="36576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434840" y="1463040"/>
            <a:ext cx="70408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96112" y="1609344"/>
            <a:ext cx="3429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 Core backend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53712" y="1609344"/>
            <a:ext cx="6812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Delivered: ASP.NET Core 8 API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1965960"/>
            <a:ext cx="365760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434840" y="1965960"/>
            <a:ext cx="704088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96112" y="2112264"/>
            <a:ext cx="3429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hub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53712" y="2112264"/>
            <a:ext cx="6812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Delivered: SignalR GameHub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2468880"/>
            <a:ext cx="36576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434840" y="2468880"/>
            <a:ext cx="70408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96112" y="2615184"/>
            <a:ext cx="3429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application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53712" y="2615184"/>
            <a:ext cx="6812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Delivered: Blazor Server app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2971800"/>
            <a:ext cx="365760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434840" y="2971800"/>
            <a:ext cx="704088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96112" y="3118104"/>
            <a:ext cx="3429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app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53712" y="3118104"/>
            <a:ext cx="6812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Delivered: .NET MAUI Android target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3474720"/>
            <a:ext cx="36576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434840" y="3474720"/>
            <a:ext cx="70408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96112" y="3621024"/>
            <a:ext cx="3429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database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53712" y="3621024"/>
            <a:ext cx="6812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Delivered: SQL Server + EF Core migrations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3977640"/>
            <a:ext cx="365760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434840" y="3977640"/>
            <a:ext cx="704088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96112" y="4123944"/>
            <a:ext cx="3429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Gambling mechanic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53712" y="4123944"/>
            <a:ext cx="6812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Delivered: virtual point-risk flow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77240" y="4480560"/>
            <a:ext cx="36576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434840" y="4480560"/>
            <a:ext cx="70408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96112" y="4626864"/>
            <a:ext cx="3429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53712" y="4626864"/>
            <a:ext cx="6812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Delivered: xUnit + integration checks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22960" y="5715000"/>
            <a:ext cx="9875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message: the final project moved from planned technology choices to a concrete implementation stack.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r>
              <a:rPr sz="3000" b="1">
                <a:solidFill>
                  <a:srgbClr val="7C3AED"/>
                </a:solidFill>
                <a:latin typeface="Aptos"/>
              </a:rPr>
              <a:t>Key use-cases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58952" y="1371600"/>
            <a:ext cx="145389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signs in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2331720" y="1581912"/>
            <a:ext cx="5486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926080" y="123444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999232" y="1371600"/>
            <a:ext cx="145389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quiz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572000" y="1581912"/>
            <a:ext cx="5486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166360" y="1234440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239512" y="1371600"/>
            <a:ext cx="154533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session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903720" y="1581912"/>
            <a:ext cx="5486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498080" y="1234440"/>
            <a:ext cx="15087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571232" y="1371600"/>
            <a:ext cx="136245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Shares PIN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9052560" y="1581912"/>
            <a:ext cx="5486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646920" y="1234440"/>
            <a:ext cx="178308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720072" y="1371600"/>
            <a:ext cx="163677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game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85800" y="2971800"/>
            <a:ext cx="178308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22D3E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58952" y="3108960"/>
            <a:ext cx="163677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enters PIN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2514600" y="3319272"/>
            <a:ext cx="5486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108960" y="2971800"/>
            <a:ext cx="15087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22D3E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182112" y="3108960"/>
            <a:ext cx="136245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Joins hub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4663440" y="3319272"/>
            <a:ext cx="5486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257800" y="2971800"/>
            <a:ext cx="169164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22D3E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330952" y="3108960"/>
            <a:ext cx="154533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Gambles score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995160" y="3319272"/>
            <a:ext cx="5486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589520" y="297180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22D3E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662672" y="3108960"/>
            <a:ext cx="145389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live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9235440" y="3319272"/>
            <a:ext cx="5486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9829800" y="297180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22D3E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902952" y="3108960"/>
            <a:ext cx="145389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rank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1280160" y="4709160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353312" y="4846320"/>
            <a:ext cx="140817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signs in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2880360" y="5056632"/>
            <a:ext cx="54864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3474720" y="47091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547872" y="4846320"/>
            <a:ext cx="159105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profile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5257800" y="5056632"/>
            <a:ext cx="54864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852160" y="470916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925312" y="4846320"/>
            <a:ext cx="172821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password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7772400" y="5056632"/>
            <a:ext cx="54864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366760" y="47091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439912" y="4846320"/>
            <a:ext cx="1591056" cy="521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 stats</a:t>
            </a:r>
            <a:endParaRPr lang="en-US" sz="1030" dirty="0"/>
          </a:p>
        </p:txBody>
      </p:sp>
      <p:sp>
        <p:nvSpPr>
          <p:cNvPr id="53" name="Rectangle 52"/>
          <p:cNvSpPr/>
          <p:nvPr/>
        </p:nvSpPr>
        <p:spPr>
          <a:xfrm>
            <a:off x="502920" y="960120"/>
            <a:ext cx="1124712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31520" y="1234440"/>
            <a:ext cx="3337560" cy="41605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60120" y="1508760"/>
            <a:ext cx="777240" cy="34747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0120" y="1965960"/>
            <a:ext cx="288036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800" b="1" dirty="0">
                <a:solidFill>
                  <a:srgbClr val="1F2937"/>
                </a:solidFill>
                <a:latin typeface="Aptos"/>
              </a:rPr>
              <a:t>Use-case 1: Host runs a live quiz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" y="2788920"/>
            <a:ext cx="2880360" cy="3200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Aptos"/>
              </a:rPr>
              <a:t>Actor: Registered host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" y="3200400"/>
            <a:ext cx="2880360" cy="61264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 dirty="0">
                <a:solidFill>
                  <a:srgbClr val="1F2937"/>
                </a:solidFill>
                <a:latin typeface="Aptos"/>
              </a:rPr>
              <a:t>Goal: Create/select a quiz, launch a session, control rounds, and finish with ranked results.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0120" y="4617720"/>
            <a:ext cx="28803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15568" y="4709160"/>
            <a:ext cx="2542032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dirty="0">
                <a:solidFill>
                  <a:srgbClr val="5A6370"/>
                </a:solidFill>
                <a:latin typeface="Aptos"/>
              </a:rPr>
              <a:t>Outcome: shareable PIN + controlled live session.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51960" y="1234440"/>
            <a:ext cx="3337560" cy="41605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4480560" y="1508760"/>
            <a:ext cx="777240" cy="347472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480560" y="1572768"/>
            <a:ext cx="77724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800" b="1" dirty="0">
                <a:solidFill>
                  <a:srgbClr val="FFFFFF"/>
                </a:solidFill>
                <a:latin typeface="Aptos"/>
              </a:rPr>
              <a:t>PLAY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60" y="1993392"/>
            <a:ext cx="2850185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800" b="1" dirty="0">
                <a:solidFill>
                  <a:srgbClr val="1F2937"/>
                </a:solidFill>
                <a:latin typeface="Aptos"/>
              </a:rPr>
              <a:t>Use-case 2: Player joins and competes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80560" y="2788920"/>
            <a:ext cx="2880360" cy="3200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r>
              <a:rPr sz="1200" b="1">
                <a:solidFill>
                  <a:srgbClr val="14B8A6"/>
                </a:solidFill>
                <a:latin typeface="Aptos"/>
              </a:rPr>
              <a:t>Actor: Guest or registered player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3246120"/>
            <a:ext cx="2850185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 dirty="0">
                <a:solidFill>
                  <a:srgbClr val="1F2937"/>
                </a:solidFill>
                <a:latin typeface="Aptos"/>
              </a:rPr>
              <a:t>Goal: Join by PIN, answer timed questions, optionally gamble score, and view live ranking.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80560" y="4617720"/>
            <a:ext cx="28803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636008" y="4736592"/>
            <a:ext cx="256032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dirty="0">
                <a:solidFill>
                  <a:srgbClr val="5A6370"/>
                </a:solidFill>
                <a:latin typeface="Aptos"/>
              </a:rPr>
              <a:t>Outcome: fast onboarding + live engagement.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772400" y="1234440"/>
            <a:ext cx="3337560" cy="4160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001000" y="1508760"/>
            <a:ext cx="777240" cy="347472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001000" y="1572768"/>
            <a:ext cx="77724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01000" y="1984248"/>
            <a:ext cx="2834640" cy="86793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800" b="1" dirty="0">
                <a:solidFill>
                  <a:srgbClr val="1F2937"/>
                </a:solidFill>
                <a:latin typeface="Aptos"/>
              </a:rPr>
              <a:t>Use-case 3: Registered user manages profile and stats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01000" y="2788920"/>
            <a:ext cx="2880360" cy="32004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r>
              <a:rPr sz="1200" b="1">
                <a:solidFill>
                  <a:srgbClr val="3B82F6"/>
                </a:solidFill>
                <a:latin typeface="Aptos"/>
              </a:rPr>
              <a:t>Actor: Registered user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01000" y="3246120"/>
            <a:ext cx="283464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 dirty="0">
                <a:solidFill>
                  <a:srgbClr val="1F2937"/>
                </a:solidFill>
                <a:latin typeface="Aptos"/>
              </a:rPr>
              <a:t>Goal: Update profile/password and review personal quiz history and statistics.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01000" y="4617720"/>
            <a:ext cx="28803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156448" y="4709160"/>
            <a:ext cx="2492156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dirty="0">
                <a:solidFill>
                  <a:srgbClr val="5A6370"/>
                </a:solidFill>
                <a:latin typeface="Aptos"/>
              </a:rPr>
              <a:t>Outcome: persistent ownership beyond one game.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5715000"/>
            <a:ext cx="10789920" cy="2743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r>
              <a:rPr sz="1300" b="0" dirty="0">
                <a:solidFill>
                  <a:srgbClr val="5A6370"/>
                </a:solidFill>
                <a:latin typeface="Aptos"/>
              </a:rPr>
              <a:t>These three use-cases map directly to the host, player, and registered-account stakeholder groups required for assessment.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4420" y="1556144"/>
            <a:ext cx="502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HOST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Gameplay and Hosting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E29E12C-9549-16F0-B8D0-FD501304A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713" y="566928"/>
            <a:ext cx="6159982" cy="37124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E3096C3-AC04-CC53-6C12-5394AA83C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114053"/>
            <a:ext cx="7273635" cy="4332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48B8FB-F9D5-D124-28FA-BE00BBD6C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36" y="870758"/>
            <a:ext cx="10681421" cy="51164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r>
              <a:rPr sz="3000" b="1">
                <a:solidFill>
                  <a:srgbClr val="7C3AED"/>
                </a:solidFill>
                <a:latin typeface="Aptos"/>
              </a:rPr>
              <a:t>Real-time gameplay sequence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68680" y="5559552"/>
            <a:ext cx="10424160" cy="621792"/>
          </a:xfrm>
          <a:prstGeom prst="roundRect">
            <a:avLst>
              <a:gd name="adj" fmla="val 17647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68680" y="5559552"/>
            <a:ext cx="82296" cy="6217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1097280" y="5724144"/>
            <a:ext cx="10104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97280" y="6126480"/>
            <a:ext cx="1010412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host controls the timeline, but players receive question and leaderboard updates at the same time instead of polling the server.</a:t>
            </a:r>
            <a:endParaRPr lang="en-US" sz="1050" dirty="0"/>
          </a:p>
        </p:txBody>
      </p:sp>
      <p:sp>
        <p:nvSpPr>
          <p:cNvPr id="81" name="Rounded Rectangle 80"/>
          <p:cNvSpPr/>
          <p:nvPr/>
        </p:nvSpPr>
        <p:spPr>
          <a:xfrm>
            <a:off x="868680" y="5559552"/>
            <a:ext cx="1042416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97280" y="5641848"/>
            <a:ext cx="9997440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 dirty="0">
                <a:solidFill>
                  <a:srgbClr val="1F2937"/>
                </a:solidFill>
                <a:latin typeface="Aptos"/>
              </a:rPr>
              <a:t>Gambling is an optional pre-question step in later rounds; question broadcast, answer submission, scoring, and leaderboard refresh are synchronized through the hub.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E0772C34-BEE0-F784-2779-D6F43261A6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777"/>
          <a:stretch>
            <a:fillRect/>
          </a:stretch>
        </p:blipFill>
        <p:spPr>
          <a:xfrm>
            <a:off x="1808857" y="1137986"/>
            <a:ext cx="8680965" cy="42071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r>
              <a:rPr sz="3000" b="1">
                <a:solidFill>
                  <a:srgbClr val="7C3AED"/>
                </a:solidFill>
                <a:latin typeface="Aptos"/>
              </a:rPr>
              <a:t>Database overview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68680" y="5806440"/>
            <a:ext cx="10332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data (quizzes/questions/answers) is separated from runtime data (sessions/players/answers/gambles), which keeps reusable quiz content distinct from live-game history.</a:t>
            </a:r>
            <a:endParaRPr lang="en-US" sz="12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1590925F-A6FF-635B-2457-1825A5994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32" y="1024127"/>
            <a:ext cx="8808735" cy="45131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Unique feature: score gambling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22960" y="1005840"/>
            <a:ext cx="3154680" cy="4389120"/>
          </a:xfrm>
          <a:prstGeom prst="roundRect">
            <a:avLst>
              <a:gd name="adj" fmla="val 3478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1005840"/>
            <a:ext cx="82296" cy="4389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51560" y="1170432"/>
            <a:ext cx="2834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572768"/>
            <a:ext cx="2834640" cy="3703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400">
                <a:solidFill>
                  <a:srgbClr val="CBD5E1"/>
                </a:solidFill>
              </a:rPr>
              <a:t>Before a question, a player chooses a percentage of their current virtual score to risk. The system converts that percentage into a stake. A correct answer adds normal question points plus the stake bonus; a wrong answer loses the stake. Decisions lock before answering.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2000" b="1">
                <a:solidFill>
                  <a:srgbClr val="F3F6FB"/>
                </a:solidFill>
              </a:rPr>
              <a:t>Example with base points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1280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92240" y="1828800"/>
            <a:ext cx="1280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200">
                <a:solidFill>
                  <a:srgbClr val="CBD5E1"/>
                </a:solidFill>
              </a:rPr>
              <a:t>40% selected risk</a:t>
            </a:r>
          </a:p>
        </p:txBody>
      </p:sp>
      <p:sp>
        <p:nvSpPr>
          <p:cNvPr id="19" name="Shape 17"/>
          <p:cNvSpPr/>
          <p:nvPr/>
        </p:nvSpPr>
        <p:spPr>
          <a:xfrm>
            <a:off x="4617720" y="3154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90872" y="3291840"/>
            <a:ext cx="1865376" cy="566928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>
            <a:norm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Aptos"/>
              </a:rPr>
              <a:t>Correct answer</a:t>
            </a:r>
          </a:p>
          <a:p>
            <a:pPr algn="ctr"/>
            <a:r>
              <a:rPr sz="1100" b="1">
                <a:solidFill>
                  <a:srgbClr val="10B981"/>
                </a:solidFill>
                <a:latin typeface="Aptos"/>
              </a:rPr>
              <a:t>+100 question points</a:t>
            </a:r>
          </a:p>
          <a:p>
            <a:pPr algn="ctr"/>
            <a:r>
              <a:rPr sz="1100" b="1">
                <a:solidFill>
                  <a:srgbClr val="10B981"/>
                </a:solidFill>
                <a:latin typeface="Aptos"/>
              </a:rPr>
              <a:t>+200 stake bonus</a:t>
            </a:r>
          </a:p>
        </p:txBody>
      </p:sp>
      <p:sp>
        <p:nvSpPr>
          <p:cNvPr id="21" name="Shape 19"/>
          <p:cNvSpPr/>
          <p:nvPr/>
        </p:nvSpPr>
        <p:spPr>
          <a:xfrm>
            <a:off x="6492240" y="2651760"/>
            <a:ext cx="0" cy="50292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892040" y="41605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983480" y="4297680"/>
            <a:ext cx="1280160" cy="347472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 fontScale="92500" lnSpcReduction="20000"/>
          </a:bodyPr>
          <a:lstStyle/>
          <a:p>
            <a:pPr algn="ctr"/>
            <a:r>
              <a:rPr sz="2600" b="1">
                <a:solidFill>
                  <a:srgbClr val="10B981"/>
                </a:solidFill>
                <a:latin typeface="Aptos"/>
              </a:rPr>
              <a:t>800</a:t>
            </a:r>
          </a:p>
        </p:txBody>
      </p:sp>
      <p:sp>
        <p:nvSpPr>
          <p:cNvPr id="24" name="Text 22"/>
          <p:cNvSpPr/>
          <p:nvPr/>
        </p:nvSpPr>
        <p:spPr>
          <a:xfrm>
            <a:off x="4983480" y="4736592"/>
            <a:ext cx="12801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400">
                <a:solidFill>
                  <a:srgbClr val="CBD5E1"/>
                </a:solidFill>
              </a:rPr>
              <a:t>Final score</a:t>
            </a:r>
          </a:p>
        </p:txBody>
      </p:sp>
      <p:sp>
        <p:nvSpPr>
          <p:cNvPr id="25" name="Shape 23"/>
          <p:cNvSpPr/>
          <p:nvPr/>
        </p:nvSpPr>
        <p:spPr>
          <a:xfrm>
            <a:off x="7360920" y="3154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EF4444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434072" y="3291840"/>
            <a:ext cx="186537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answer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 is lost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269480" y="2651760"/>
            <a:ext cx="960120" cy="50292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635240" y="416052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26680" y="4297680"/>
            <a:ext cx="1280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726680" y="4736592"/>
            <a:ext cx="128016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400">
                <a:solidFill>
                  <a:srgbClr val="CBD5E1"/>
                </a:solidFill>
              </a:rPr>
              <a:t>Final score</a:t>
            </a:r>
          </a:p>
        </p:txBody>
      </p:sp>
      <p:sp>
        <p:nvSpPr>
          <p:cNvPr id="31" name="Shape 29"/>
          <p:cNvSpPr/>
          <p:nvPr/>
        </p:nvSpPr>
        <p:spPr>
          <a:xfrm>
            <a:off x="9738360" y="1417320"/>
            <a:ext cx="1417320" cy="3520440"/>
          </a:xfrm>
          <a:prstGeom prst="roundRect">
            <a:avLst>
              <a:gd name="adj" fmla="val 7742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9738360" y="1417320"/>
            <a:ext cx="82296" cy="3520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9966960" y="1581912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helps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66960" y="1984248"/>
            <a:ext cx="10972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 strategy and risk-reward tension beyond ordinary speed-based scoring.</a:t>
            </a:r>
            <a:endParaRPr lang="en-US" sz="1050" dirty="0"/>
          </a:p>
        </p:txBody>
      </p:sp>
      <p:sp>
        <p:nvSpPr>
          <p:cNvPr id="35" name="TextBox 34"/>
          <p:cNvSpPr txBox="1"/>
          <p:nvPr/>
        </p:nvSpPr>
        <p:spPr>
          <a:xfrm>
            <a:off x="3520440" y="5413248"/>
            <a:ext cx="5394960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Example assumes a 100-point question: 500 + 100 + 200 = 800.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and SignalR contracts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85800" y="960120"/>
            <a:ext cx="3429000" cy="4434840"/>
          </a:xfrm>
          <a:prstGeom prst="roundRect">
            <a:avLst>
              <a:gd name="adj" fmla="val 3200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82296" cy="4434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1124712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endpoints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527048"/>
            <a:ext cx="3108960" cy="3749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/>
          </a:bodyPr>
          <a:lstStyle/>
          <a:p>
            <a:r>
              <a:rPr sz="1050" b="0">
                <a:solidFill>
                  <a:srgbClr val="CBD5E1"/>
                </a:solidFill>
                <a:latin typeface="Aptos"/>
              </a:rPr>
              <a:t>POST /api/auth/register</a:t>
            </a:r>
          </a:p>
          <a:p>
            <a:r>
              <a:rPr sz="1050" b="0">
                <a:solidFill>
                  <a:srgbClr val="CBD5E1"/>
                </a:solidFill>
                <a:latin typeface="Aptos"/>
              </a:rPr>
              <a:t>POST /api/auth/login</a:t>
            </a:r>
          </a:p>
          <a:p>
            <a:r>
              <a:rPr sz="1050" b="0">
                <a:solidFill>
                  <a:srgbClr val="CBD5E1"/>
                </a:solidFill>
                <a:latin typeface="Aptos"/>
              </a:rPr>
              <a:t>GET/POST/PUT/DELETE /api/quiz</a:t>
            </a:r>
          </a:p>
          <a:p>
            <a:r>
              <a:rPr sz="1050" b="0">
                <a:solidFill>
                  <a:srgbClr val="CBD5E1"/>
                </a:solidFill>
                <a:latin typeface="Aptos"/>
              </a:rPr>
              <a:t>POST /api/gamesession</a:t>
            </a:r>
          </a:p>
          <a:p>
            <a:r>
              <a:rPr sz="1050" b="0">
                <a:solidFill>
                  <a:srgbClr val="CBD5E1"/>
                </a:solidFill>
                <a:latin typeface="Aptos"/>
              </a:rPr>
              <a:t>GET /api/gamesession/{code}</a:t>
            </a:r>
          </a:p>
          <a:p>
            <a:r>
              <a:rPr sz="1050" b="0">
                <a:solidFill>
                  <a:srgbClr val="CBD5E1"/>
                </a:solidFill>
                <a:latin typeface="Aptos"/>
              </a:rPr>
              <a:t>GET /api/gamesession/{id}/results</a:t>
            </a:r>
          </a:p>
          <a:p>
            <a:r>
              <a:rPr sz="1050" b="0">
                <a:solidFill>
                  <a:srgbClr val="CBD5E1"/>
                </a:solidFill>
                <a:latin typeface="Aptos"/>
              </a:rPr>
              <a:t>GET /api/user/profile</a:t>
            </a:r>
          </a:p>
          <a:p>
            <a:r>
              <a:rPr sz="1050" b="0">
                <a:solidFill>
                  <a:srgbClr val="CBD5E1"/>
                </a:solidFill>
                <a:latin typeface="Aptos"/>
              </a:rPr>
              <a:t>PUT /api/user/change-password</a:t>
            </a:r>
          </a:p>
          <a:p>
            <a:r>
              <a:rPr sz="1050" b="0">
                <a:solidFill>
                  <a:srgbClr val="CBD5E1"/>
                </a:solidFill>
                <a:latin typeface="Aptos"/>
              </a:rPr>
              <a:t>GET /api/user/stats</a:t>
            </a:r>
          </a:p>
        </p:txBody>
      </p:sp>
      <p:sp>
        <p:nvSpPr>
          <p:cNvPr id="12" name="Shape 10"/>
          <p:cNvSpPr/>
          <p:nvPr/>
        </p:nvSpPr>
        <p:spPr>
          <a:xfrm>
            <a:off x="4389120" y="960120"/>
            <a:ext cx="3429000" cy="4434840"/>
          </a:xfrm>
          <a:prstGeom prst="roundRect">
            <a:avLst>
              <a:gd name="adj" fmla="val 3200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389120" y="960120"/>
            <a:ext cx="82296" cy="4434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17720" y="1124712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 methods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527048"/>
            <a:ext cx="310896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HostGame, RejoinGame</a:t>
            </a:r>
            <a:endParaRPr lang="en-US" sz="1050" dirty="0"/>
          </a:p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StartGame, NextQuestion</a:t>
            </a:r>
            <a:endParaRPr lang="en-US" sz="1050" dirty="0"/>
          </a:p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EndGamblingPhase, EndGame</a:t>
            </a:r>
            <a:endParaRPr lang="en-US" sz="1050" dirty="0"/>
          </a:p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JoinGame</a:t>
            </a:r>
            <a:endParaRPr lang="en-US" sz="1050" dirty="0"/>
          </a:p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PlaceGamble</a:t>
            </a:r>
            <a:endParaRPr lang="en-US" sz="1050" dirty="0"/>
          </a:p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SubmitAnswer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960120"/>
            <a:ext cx="3429000" cy="4434840"/>
          </a:xfrm>
          <a:prstGeom prst="roundRect">
            <a:avLst>
              <a:gd name="adj" fmla="val 3200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092440" y="960120"/>
            <a:ext cx="82296" cy="4434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21040" y="1124712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events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1527048"/>
            <a:ext cx="310896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display</a:t>
            </a:r>
            <a:endParaRPr lang="en-US" sz="1050" dirty="0"/>
          </a:p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Gambling countdown</a:t>
            </a:r>
            <a:endParaRPr lang="en-US" sz="1050" dirty="0"/>
          </a:p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reveal</a:t>
            </a:r>
            <a:endParaRPr lang="en-US" sz="1050" dirty="0"/>
          </a:p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Leaderboard refresh</a:t>
            </a:r>
            <a:endParaRPr lang="en-US" sz="1050" dirty="0"/>
          </a:p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notices</a:t>
            </a:r>
            <a:endParaRPr lang="en-US" sz="1050" dirty="0"/>
          </a:p>
          <a:p>
            <a:pPr marL="0" indent="0" algn="l">
              <a:buNone/>
            </a:pPr>
            <a:r>
              <a:rPr lang="en-US" sz="13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game results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privacy controls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77240" y="1097280"/>
            <a:ext cx="3063240" cy="4480560"/>
          </a:xfrm>
          <a:prstGeom prst="roundRect">
            <a:avLst>
              <a:gd name="adj" fmla="val 3582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77240" y="1097280"/>
            <a:ext cx="82296" cy="4480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0584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664208"/>
            <a:ext cx="274320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bearer tokens protect owner-only features. Public gameplay remains lightweight through PIN-based joining.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1097280"/>
            <a:ext cx="3063240" cy="4480560"/>
          </a:xfrm>
          <a:prstGeom prst="roundRect">
            <a:avLst>
              <a:gd name="adj" fmla="val 3582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26280" y="1097280"/>
            <a:ext cx="82296" cy="4480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5488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safety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664208"/>
            <a:ext cx="274320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Passwords are hashed and salted with PBKDF2. The database stores hashes rather than plaintext passwords.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75320" y="1097280"/>
            <a:ext cx="3063240" cy="4480560"/>
          </a:xfrm>
          <a:prstGeom prst="roundRect">
            <a:avLst>
              <a:gd name="adj" fmla="val 3582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75320" y="1097280"/>
            <a:ext cx="82296" cy="4480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50392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1664208"/>
            <a:ext cx="274320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Registered users store email, username, profile changes, and history. Guest players only need a display name for a session.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verification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22960" y="105156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1188720"/>
            <a:ext cx="12344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627632"/>
            <a:ext cx="12344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05156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560320" y="1188720"/>
            <a:ext cx="1234440" cy="347472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API startup</a:t>
            </a:r>
          </a:p>
        </p:txBody>
      </p:sp>
      <p:sp>
        <p:nvSpPr>
          <p:cNvPr id="13" name="Text 11"/>
          <p:cNvSpPr/>
          <p:nvPr/>
        </p:nvSpPr>
        <p:spPr>
          <a:xfrm>
            <a:off x="2560320" y="1627632"/>
            <a:ext cx="1234440" cy="237744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WebAppFactory</a:t>
            </a:r>
          </a:p>
        </p:txBody>
      </p:sp>
      <p:sp>
        <p:nvSpPr>
          <p:cNvPr id="14" name="Shape 12"/>
          <p:cNvSpPr/>
          <p:nvPr/>
        </p:nvSpPr>
        <p:spPr>
          <a:xfrm>
            <a:off x="4114800" y="105156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206240" y="1188720"/>
            <a:ext cx="1234440" cy="347472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 fontScale="77500" lnSpcReduction="20000"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Hub connectivity</a:t>
            </a:r>
          </a:p>
        </p:txBody>
      </p:sp>
      <p:sp>
        <p:nvSpPr>
          <p:cNvPr id="16" name="Text 14"/>
          <p:cNvSpPr/>
          <p:nvPr/>
        </p:nvSpPr>
        <p:spPr>
          <a:xfrm>
            <a:off x="4206240" y="1627632"/>
            <a:ext cx="1234440" cy="237744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SignalR</a:t>
            </a:r>
          </a:p>
        </p:txBody>
      </p:sp>
      <p:sp>
        <p:nvSpPr>
          <p:cNvPr id="17" name="Shape 15"/>
          <p:cNvSpPr/>
          <p:nvPr/>
        </p:nvSpPr>
        <p:spPr>
          <a:xfrm>
            <a:off x="5760720" y="105156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852160" y="1188720"/>
            <a:ext cx="13258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52160" y="1627632"/>
            <a:ext cx="1325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+ mobile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43800" y="105156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635240" y="1188720"/>
            <a:ext cx="1234440" cy="347472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/>
          </a:bodyPr>
          <a:lstStyle/>
          <a:p>
            <a:r>
              <a:rPr sz="1700" b="1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22" name="Text 20"/>
          <p:cNvSpPr/>
          <p:nvPr/>
        </p:nvSpPr>
        <p:spPr>
          <a:xfrm>
            <a:off x="7635240" y="1627632"/>
            <a:ext cx="1234440" cy="237744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DB setup</a:t>
            </a:r>
          </a:p>
        </p:txBody>
      </p:sp>
      <p:sp>
        <p:nvSpPr>
          <p:cNvPr id="23" name="Shape 21"/>
          <p:cNvSpPr/>
          <p:nvPr/>
        </p:nvSpPr>
        <p:spPr>
          <a:xfrm>
            <a:off x="9189720" y="105156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281160" y="1188720"/>
            <a:ext cx="1234440" cy="347472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 fontScale="77500" lnSpcReduction="20000"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Auth-protected</a:t>
            </a:r>
          </a:p>
        </p:txBody>
      </p:sp>
      <p:sp>
        <p:nvSpPr>
          <p:cNvPr id="25" name="Text 23"/>
          <p:cNvSpPr/>
          <p:nvPr/>
        </p:nvSpPr>
        <p:spPr>
          <a:xfrm>
            <a:off x="9281160" y="1627632"/>
            <a:ext cx="1234440" cy="237744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flows</a:t>
            </a:r>
          </a:p>
        </p:txBody>
      </p:sp>
      <p:sp>
        <p:nvSpPr>
          <p:cNvPr id="26" name="Shape 24"/>
          <p:cNvSpPr/>
          <p:nvPr/>
        </p:nvSpPr>
        <p:spPr>
          <a:xfrm>
            <a:off x="868680" y="274320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68680" y="2743200"/>
            <a:ext cx="82296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97280" y="2907792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3310128"/>
            <a:ext cx="2926080" cy="16002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/>
          </a:bodyPr>
          <a:lstStyle/>
          <a:p>
            <a:r>
              <a:rPr sz="1200" b="0">
                <a:solidFill>
                  <a:srgbClr val="CBD5E1"/>
                </a:solidFill>
                <a:latin typeface="Aptos"/>
              </a:rPr>
              <a:t>xUnit tests cover service logic, score calculation, gambling behavior, and game session creation. Integration checks confirm API startup and SignalR hub connectivity.</a:t>
            </a:r>
          </a:p>
        </p:txBody>
      </p:sp>
      <p:sp>
        <p:nvSpPr>
          <p:cNvPr id="30" name="Shape 28"/>
          <p:cNvSpPr/>
          <p:nvPr/>
        </p:nvSpPr>
        <p:spPr>
          <a:xfrm>
            <a:off x="4480560" y="274320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480560" y="2743200"/>
            <a:ext cx="82296" cy="2286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709160" y="2907792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flows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09160" y="3310128"/>
            <a:ext cx="2926080" cy="16002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/>
          </a:bodyPr>
          <a:lstStyle/>
          <a:p>
            <a:r>
              <a:rPr sz="1200" b="0">
                <a:solidFill>
                  <a:srgbClr val="CBD5E1"/>
                </a:solidFill>
                <a:latin typeface="Aptos"/>
              </a:rPr>
              <a:t>Host creates a quiz, launches a session, player joins by PIN, optional gambling opens in later rounds, answer is submitted, and leaderboard updates.</a:t>
            </a:r>
          </a:p>
        </p:txBody>
      </p:sp>
      <p:sp>
        <p:nvSpPr>
          <p:cNvPr id="34" name="Shape 32"/>
          <p:cNvSpPr/>
          <p:nvPr/>
        </p:nvSpPr>
        <p:spPr>
          <a:xfrm>
            <a:off x="8092440" y="274320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092440" y="2743200"/>
            <a:ext cx="82296" cy="2286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321040" y="2907792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focus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21040" y="3310128"/>
            <a:ext cx="29260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important risk area is multiplayer synchronization, so end-to-end web/mobile testing remains essential.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and lessons learned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77240" y="1097280"/>
            <a:ext cx="2514600" cy="4160520"/>
          </a:xfrm>
          <a:prstGeom prst="roundRect">
            <a:avLst>
              <a:gd name="adj" fmla="val 4364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77240" y="1097280"/>
            <a:ext cx="82296" cy="4160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05840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state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664208"/>
            <a:ext cx="219456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session states were needed to avoid conflicting submissions and inconsistent leaderboards.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11880" y="1097280"/>
            <a:ext cx="2514600" cy="4160520"/>
          </a:xfrm>
          <a:prstGeom prst="roundRect">
            <a:avLst>
              <a:gd name="adj" fmla="val 4364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611880" y="1097280"/>
            <a:ext cx="82296" cy="4160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840480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Cross-client behavior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1664208"/>
            <a:ext cx="219456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and mobile consume the same API, which simplifies backend logic but requires careful client configuration.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1097280"/>
            <a:ext cx="2514600" cy="4160520"/>
          </a:xfrm>
          <a:prstGeom prst="roundRect">
            <a:avLst>
              <a:gd name="adj" fmla="val 4364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46520" y="1097280"/>
            <a:ext cx="82296" cy="4160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675120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trade-offs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664208"/>
            <a:ext cx="219456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joining must stay simple while registered user actions remain protected by JWT and ownership checks.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81160" y="1097280"/>
            <a:ext cx="2148840" cy="4160520"/>
          </a:xfrm>
          <a:prstGeom prst="roundRect">
            <a:avLst>
              <a:gd name="adj" fmla="val 5106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281160" y="1097280"/>
            <a:ext cx="82296" cy="4160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509760" y="1261872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control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1664208"/>
            <a:ext cx="18288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notifications and extra social features were kept as stretch goals to protect core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7407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improvements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874520" y="1067561"/>
            <a:ext cx="3142211" cy="1476757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22D3EE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41784" y="1566534"/>
            <a:ext cx="1682496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iOS support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095847" y="1077121"/>
            <a:ext cx="3292117" cy="1476757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940420" y="1566534"/>
            <a:ext cx="1682496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deployment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911927" y="2970342"/>
            <a:ext cx="3142211" cy="1476756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EC4899">
                <a:alpha val="85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7" name="Text 15"/>
          <p:cNvSpPr/>
          <p:nvPr/>
        </p:nvSpPr>
        <p:spPr>
          <a:xfrm>
            <a:off x="2715768" y="3490722"/>
            <a:ext cx="1682496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quiz generation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095848" y="2964727"/>
            <a:ext cx="3292116" cy="1476757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B82F6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940420" y="3412375"/>
            <a:ext cx="1682496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analytics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1005840" y="5166360"/>
            <a:ext cx="9966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improvements build on the Competitive Analysis opportunities: integration, gamification, analytics, customization, and self-hosting.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35640" y="228600"/>
            <a:ext cx="685800" cy="10972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173968" y="411480"/>
            <a:ext cx="310896" cy="10972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QuizRush | OICAR Final Presentation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11064240" cy="0"/>
          </a:xfrm>
          <a:prstGeom prst="line">
            <a:avLst/>
          </a:prstGeom>
          <a:noFill/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8412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QuizRush delivers a credible full-stack real-time quiz platform.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1920240"/>
            <a:ext cx="82296" cy="2377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2084832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product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487168"/>
            <a:ext cx="278892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app, Android app, REST API, SignalR GameHub, SQL Server schema, authentication, statistics, and virtual gambling.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26280" y="192024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26280" y="1920240"/>
            <a:ext cx="82296" cy="2377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54880" y="2084832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value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2487168"/>
            <a:ext cx="278892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architecture, reusable backend, EF Core persistence, test coverage, Swagger, and clear install steps.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192024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1E293B">
              <a:alpha val="97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0" y="1920240"/>
            <a:ext cx="82296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58200" y="2084832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value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8200" y="2487168"/>
            <a:ext cx="278892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500">
                <a:solidFill>
                  <a:srgbClr val="CBD5E1"/>
                </a:solidFill>
              </a:rPr>
              <a:t>Flexible platform designed to be self-hostable for education, corporate training, events, and custom gamified experiences.</a:t>
            </a:r>
          </a:p>
        </p:txBody>
      </p:sp>
      <p:sp>
        <p:nvSpPr>
          <p:cNvPr id="21" name="Text 19"/>
          <p:cNvSpPr/>
          <p:nvPr/>
        </p:nvSpPr>
        <p:spPr>
          <a:xfrm>
            <a:off x="777240" y="5166360"/>
            <a:ext cx="10698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1281</Words>
  <Application>Microsoft Office PowerPoint</Application>
  <PresentationFormat>Widescreen</PresentationFormat>
  <Paragraphs>226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Algebra Bernays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QuizRush Final Presentation</dc:title>
  <dc:subject>QuizRush Final Presentation</dc:subject>
  <dc:creator>Roko Pejo Bozic</dc:creator>
  <cp:lastModifiedBy>Roko Pejo Božić | Student</cp:lastModifiedBy>
  <cp:revision>5</cp:revision>
  <dcterms:created xsi:type="dcterms:W3CDTF">2026-06-10T16:45:48Z</dcterms:created>
  <dcterms:modified xsi:type="dcterms:W3CDTF">2026-06-10T22:34:29Z</dcterms:modified>
</cp:coreProperties>
</file>